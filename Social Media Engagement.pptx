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4"/>
  </p:sldMasterIdLst>
  <p:notesMasterIdLst>
    <p:notesMasterId r:id="rId12"/>
  </p:notesMasterIdLst>
  <p:sldIdLst>
    <p:sldId id="292" r:id="rId5"/>
    <p:sldId id="1291" r:id="rId6"/>
    <p:sldId id="1292" r:id="rId7"/>
    <p:sldId id="1294" r:id="rId8"/>
    <p:sldId id="1293" r:id="rId9"/>
    <p:sldId id="1296" r:id="rId10"/>
    <p:sldId id="1250" r:id="rId1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88" userDrawn="1">
          <p15:clr>
            <a:srgbClr val="A4A3A4"/>
          </p15:clr>
        </p15:guide>
        <p15:guide id="2" pos="144" userDrawn="1">
          <p15:clr>
            <a:srgbClr val="A4A3A4"/>
          </p15:clr>
        </p15:guide>
        <p15:guide id="3" orient="horz" pos="852" userDrawn="1">
          <p15:clr>
            <a:srgbClr val="A4A3A4"/>
          </p15:clr>
        </p15:guide>
      </p15:sldGuideLst>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xmlns=""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7C73"/>
    <a:srgbClr val="E8ECF8"/>
    <a:srgbClr val="EF6331"/>
    <a:srgbClr val="223366"/>
    <a:srgbClr val="00717D"/>
    <a:srgbClr val="C9D2ED"/>
    <a:srgbClr val="851910"/>
    <a:srgbClr val="0000FF"/>
    <a:srgbClr val="FFCD8C"/>
    <a:srgbClr val="9F5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20"/>
      </p:cViewPr>
      <p:guideLst>
        <p:guide orient="horz" pos="588"/>
        <p:guide pos="144"/>
        <p:guide orient="horz" pos="85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3" Type="http://schemas.openxmlformats.org/officeDocument/2006/relationships/customXml" Target="../customXml/item3.xml"/><Relationship Id="rId222"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notesMaster" Target="notesMasters/notesMaster1.xml"/><Relationship Id="rId2" Type="http://schemas.openxmlformats.org/officeDocument/2006/relationships/customXml" Target="../customXml/item2.xml"/><Relationship Id="rId22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20" Type="http://customschemas.google.com/relationships/presentationmetadata" Target="metadata"/><Relationship Id="rId5" Type="http://schemas.openxmlformats.org/officeDocument/2006/relationships/slide" Target="slides/slide1.xml"/><Relationship Id="rId10" Type="http://schemas.openxmlformats.org/officeDocument/2006/relationships/slide" Target="slides/slide6.xml"/><Relationship Id="rId22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22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30802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pPr marL="158750" indent="0">
              <a:buNone/>
            </a:pPr>
            <a:endParaRPr lang="en-US" b="1"/>
          </a:p>
        </p:txBody>
      </p:sp>
      <p:sp>
        <p:nvSpPr>
          <p:cNvPr id="4" name="Slide Number Placeholder 3"/>
          <p:cNvSpPr>
            <a:spLocks noGrp="1"/>
          </p:cNvSpPr>
          <p:nvPr>
            <p:ph type="sldNum"/>
          </p:nvPr>
        </p:nvSpPr>
        <p:spPr/>
        <p:txBody>
          <a:bodyPr/>
          <a:lstStyle/>
          <a:p>
            <a:pPr algn="r"/>
            <a:fld id="{023E65BA-FB28-47C4-A217-44F00343302E}" type="slidenum">
              <a:rPr lang="en-US" sz="1400" b="0" strike="noStrike" spc="-1">
                <a:latin typeface="Times New Roman"/>
              </a:rPr>
              <a:t>1</a:t>
            </a:fld>
            <a:endParaRPr lang="en-US" sz="1400" b="0" strike="noStrike" spc="-1">
              <a:latin typeface="Times New Roman"/>
            </a:endParaRPr>
          </a:p>
        </p:txBody>
      </p:sp>
    </p:spTree>
    <p:extLst>
      <p:ext uri="{BB962C8B-B14F-4D97-AF65-F5344CB8AC3E}">
        <p14:creationId xmlns:p14="http://schemas.microsoft.com/office/powerpoint/2010/main" val="3736936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110891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458256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671224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453239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880271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r>
              <a:rPr lang="en-US" b="1" spc="-5">
                <a:solidFill>
                  <a:srgbClr val="223366"/>
                </a:solidFill>
              </a:rPr>
              <a:t>Thank You !!</a:t>
            </a:r>
            <a:endParaRPr lang="en-US" sz="1100" b="1" spc="-5">
              <a:solidFill>
                <a:srgbClr val="223366"/>
              </a:solidFill>
            </a:endParaRPr>
          </a:p>
        </p:txBody>
      </p:sp>
    </p:spTree>
    <p:extLst>
      <p:ext uri="{BB962C8B-B14F-4D97-AF65-F5344CB8AC3E}">
        <p14:creationId xmlns:p14="http://schemas.microsoft.com/office/powerpoint/2010/main" val="254420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Title and body">
    <p:spTree>
      <p:nvGrpSpPr>
        <p:cNvPr id="1" name="Shape 13"/>
        <p:cNvGrpSpPr/>
        <p:nvPr/>
      </p:nvGrpSpPr>
      <p:grpSpPr>
        <a:xfrm>
          <a:off x="0" y="0"/>
          <a:ext cx="0" cy="0"/>
          <a:chOff x="0" y="0"/>
          <a:chExt cx="0" cy="0"/>
        </a:xfrm>
      </p:grpSpPr>
      <p:sp>
        <p:nvSpPr>
          <p:cNvPr id="16" name="Google Shape;16;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7718775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EBA23-5FDD-5D7E-F6FC-E4A6A7F5FDAF}"/>
              </a:ext>
            </a:extLst>
          </p:cNvPr>
          <p:cNvSpPr>
            <a:spLocks noGrp="1"/>
          </p:cNvSpPr>
          <p:nvPr>
            <p:ph type="ctrTitle"/>
          </p:nvPr>
        </p:nvSpPr>
        <p:spPr>
          <a:xfrm>
            <a:off x="1143000" y="841375"/>
            <a:ext cx="6858000" cy="1790700"/>
          </a:xfrm>
          <a:prstGeom prst="rect">
            <a:avLst/>
          </a:prstGeo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81DBF0E-B651-D205-69BC-E38929484D98}"/>
              </a:ext>
            </a:extLst>
          </p:cNvPr>
          <p:cNvSpPr>
            <a:spLocks noGrp="1"/>
          </p:cNvSpPr>
          <p:nvPr>
            <p:ph type="subTitle" idx="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C5EAFE9-FEB4-90FA-7604-E71268E9BE42}"/>
              </a:ext>
            </a:extLst>
          </p:cNvPr>
          <p:cNvSpPr>
            <a:spLocks noGrp="1"/>
          </p:cNvSpPr>
          <p:nvPr>
            <p:ph type="dt" sz="half" idx="10"/>
          </p:nvPr>
        </p:nvSpPr>
        <p:spPr>
          <a:xfrm>
            <a:off x="628650" y="4767263"/>
            <a:ext cx="2057400" cy="274637"/>
          </a:xfrm>
          <a:prstGeom prst="rect">
            <a:avLst/>
          </a:prstGeom>
        </p:spPr>
        <p:txBody>
          <a:bodyPr/>
          <a:lstStyle/>
          <a:p>
            <a:fld id="{757799B1-BD81-4C27-AC39-14752E0AA9C5}" type="datetimeFigureOut">
              <a:rPr lang="en-IN" smtClean="0"/>
              <a:t>14-05-2026</a:t>
            </a:fld>
            <a:endParaRPr lang="en-IN"/>
          </a:p>
        </p:txBody>
      </p:sp>
      <p:sp>
        <p:nvSpPr>
          <p:cNvPr id="5" name="Footer Placeholder 4">
            <a:extLst>
              <a:ext uri="{FF2B5EF4-FFF2-40B4-BE49-F238E27FC236}">
                <a16:creationId xmlns:a16="http://schemas.microsoft.com/office/drawing/2014/main" id="{90042C0C-D784-7894-6E7A-A3163E7BD218}"/>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597E244B-37C0-9DC6-22CD-EB660918FB6E}"/>
              </a:ext>
            </a:extLst>
          </p:cNvPr>
          <p:cNvSpPr>
            <a:spLocks noGrp="1"/>
          </p:cNvSpPr>
          <p:nvPr>
            <p:ph type="sldNum" sz="quarter" idx="12"/>
          </p:nvPr>
        </p:nvSpPr>
        <p:spPr>
          <a:xfrm>
            <a:off x="6457950" y="4767263"/>
            <a:ext cx="2057400" cy="274637"/>
          </a:xfrm>
          <a:prstGeom prst="rect">
            <a:avLst/>
          </a:prstGeom>
        </p:spPr>
        <p:txBody>
          <a:bodyPr/>
          <a:lstStyle/>
          <a:p>
            <a:fld id="{46D0F184-99CC-4BD8-B5C7-8D3F468855F6}" type="slidenum">
              <a:rPr lang="en-IN" smtClean="0"/>
              <a:t>‹#›</a:t>
            </a:fld>
            <a:endParaRPr lang="en-IN"/>
          </a:p>
        </p:txBody>
      </p:sp>
    </p:spTree>
    <p:extLst>
      <p:ext uri="{BB962C8B-B14F-4D97-AF65-F5344CB8AC3E}">
        <p14:creationId xmlns:p14="http://schemas.microsoft.com/office/powerpoint/2010/main" val="212151691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2" name="Rectangle 1">
            <a:extLst>
              <a:ext uri="{FF2B5EF4-FFF2-40B4-BE49-F238E27FC236}">
                <a16:creationId xmlns:a16="http://schemas.microsoft.com/office/drawing/2014/main" id="{1C8B4DC1-1FB6-97A3-9F51-B9358500E0A8}"/>
              </a:ext>
            </a:extLst>
          </p:cNvPr>
          <p:cNvSpPr/>
          <p:nvPr userDrawn="1"/>
        </p:nvSpPr>
        <p:spPr>
          <a:xfrm>
            <a:off x="0" y="454356"/>
            <a:ext cx="9144000" cy="45719"/>
          </a:xfrm>
          <a:prstGeom prst="rect">
            <a:avLst/>
          </a:prstGeom>
          <a:solidFill>
            <a:srgbClr val="EF63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97B0C45-392E-206A-6503-A52CA087AB64}"/>
              </a:ext>
            </a:extLst>
          </p:cNvPr>
          <p:cNvSpPr/>
          <p:nvPr userDrawn="1"/>
        </p:nvSpPr>
        <p:spPr>
          <a:xfrm>
            <a:off x="0" y="2445"/>
            <a:ext cx="9144000" cy="467289"/>
          </a:xfrm>
          <a:prstGeom prst="rect">
            <a:avLst/>
          </a:prstGeom>
          <a:solidFill>
            <a:srgbClr val="E8ECF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userDrawn="1"/>
        </p:nvPicPr>
        <p:blipFill rotWithShape="1">
          <a:blip r:embed="rId5">
            <a:alphaModFix/>
          </a:blip>
          <a:srcRect/>
          <a:stretch/>
        </p:blipFill>
        <p:spPr>
          <a:xfrm>
            <a:off x="7717638" y="48027"/>
            <a:ext cx="1125129" cy="376123"/>
          </a:xfrm>
          <a:prstGeom prst="rect">
            <a:avLst/>
          </a:prstGeom>
          <a:noFill/>
          <a:ln>
            <a:noFill/>
          </a:ln>
        </p:spPr>
      </p:pic>
      <p:sp>
        <p:nvSpPr>
          <p:cNvPr id="14" name="Rectangle 13">
            <a:extLst>
              <a:ext uri="{FF2B5EF4-FFF2-40B4-BE49-F238E27FC236}">
                <a16:creationId xmlns:a16="http://schemas.microsoft.com/office/drawing/2014/main" id="{51E902BD-DE18-50F7-2A75-FEB6FA54A56F}"/>
              </a:ext>
            </a:extLst>
          </p:cNvPr>
          <p:cNvSpPr/>
          <p:nvPr userDrawn="1"/>
        </p:nvSpPr>
        <p:spPr>
          <a:xfrm>
            <a:off x="0" y="5097781"/>
            <a:ext cx="9144000" cy="4571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dk2" tx2="lt2" accent1="accent1" accent2="accent2" accent3="accent3" accent4="accent4" accent5="accent5" accent6="accent6" hlink="hlink" folHlink="folHlink"/>
  <p:sldLayoutIdLst>
    <p:sldLayoutId id="2147483701" r:id="rId1"/>
    <p:sldLayoutId id="2147483714" r:id="rId2"/>
    <p:sldLayoutId id="2147483715"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sv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svg"/></Relationships>
</file>

<file path=ppt/slides/_rels/slide4.xml.rels><?xml version="1.0" encoding="UTF-8" standalone="yes"?>
<Relationships xmlns="http://schemas.openxmlformats.org/package/2006/relationships"><Relationship Id="rId3" Type="http://schemas.openxmlformats.org/officeDocument/2006/relationships/hyperlink" Target="https://copilotstudio.microsoft.com/environments/Default-ad06ef22-d6dc-4a55-b4c1-c3a158f5f147/bots/cr78b_copilot1tJ7uAB/canvas"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hyperlink" Target="https://github.com/dixitvishal366-dotcom/Social-Media-Engagement-/blob/main/Social%20Media%20Engagement.pptx"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048131F8-7219-F30F-23C3-B1A523F13B4D}"/>
              </a:ext>
            </a:extLst>
          </p:cNvPr>
          <p:cNvSpPr/>
          <p:nvPr/>
        </p:nvSpPr>
        <p:spPr>
          <a:xfrm>
            <a:off x="0" y="8878"/>
            <a:ext cx="9144000" cy="514350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 name="Picture 36" descr="A group of people sitting around a table&#10;&#10;Description automatically generated">
            <a:extLst>
              <a:ext uri="{FF2B5EF4-FFF2-40B4-BE49-F238E27FC236}">
                <a16:creationId xmlns:a16="http://schemas.microsoft.com/office/drawing/2014/main" id="{F50512D5-A288-DE64-5FE5-FAA83B724C73}"/>
              </a:ext>
            </a:extLst>
          </p:cNvPr>
          <p:cNvPicPr>
            <a:picLocks noChangeAspect="1"/>
          </p:cNvPicPr>
          <p:nvPr/>
        </p:nvPicPr>
        <p:blipFill rotWithShape="1">
          <a:blip r:embed="rId3"/>
          <a:srcRect r="27854" b="25110"/>
          <a:stretch/>
        </p:blipFill>
        <p:spPr>
          <a:xfrm>
            <a:off x="3591976" y="-2697"/>
            <a:ext cx="5563599" cy="3851975"/>
          </a:xfrm>
          <a:prstGeom prst="rect">
            <a:avLst/>
          </a:prstGeom>
        </p:spPr>
      </p:pic>
      <p:grpSp>
        <p:nvGrpSpPr>
          <p:cNvPr id="9" name="Group 6">
            <a:extLst>
              <a:ext uri="{FF2B5EF4-FFF2-40B4-BE49-F238E27FC236}">
                <a16:creationId xmlns:a16="http://schemas.microsoft.com/office/drawing/2014/main" id="{ED09A716-F5FD-30AD-BA53-B5110DF9CEEE}"/>
              </a:ext>
            </a:extLst>
          </p:cNvPr>
          <p:cNvGrpSpPr/>
          <p:nvPr/>
        </p:nvGrpSpPr>
        <p:grpSpPr>
          <a:xfrm>
            <a:off x="552672" y="1325358"/>
            <a:ext cx="5347819" cy="2630034"/>
            <a:chOff x="-30164" y="-47625"/>
            <a:chExt cx="1548591" cy="761590"/>
          </a:xfrm>
        </p:grpSpPr>
        <p:sp>
          <p:nvSpPr>
            <p:cNvPr id="10" name="Freeform 7">
              <a:extLst>
                <a:ext uri="{FF2B5EF4-FFF2-40B4-BE49-F238E27FC236}">
                  <a16:creationId xmlns:a16="http://schemas.microsoft.com/office/drawing/2014/main" id="{6A1020B1-E8B3-2D26-3C61-328C79130C0D}"/>
                </a:ext>
              </a:extLst>
            </p:cNvPr>
            <p:cNvSpPr/>
            <p:nvPr/>
          </p:nvSpPr>
          <p:spPr>
            <a:xfrm>
              <a:off x="-30164" y="0"/>
              <a:ext cx="1548591" cy="713965"/>
            </a:xfrm>
            <a:custGeom>
              <a:avLst/>
              <a:gdLst/>
              <a:ahLst/>
              <a:cxnLst/>
              <a:rect l="l" t="t" r="r" b="b"/>
              <a:pathLst>
                <a:path w="1223699" h="713965">
                  <a:moveTo>
                    <a:pt x="0" y="0"/>
                  </a:moveTo>
                  <a:lnTo>
                    <a:pt x="1223699" y="0"/>
                  </a:lnTo>
                  <a:lnTo>
                    <a:pt x="1223699" y="713965"/>
                  </a:lnTo>
                  <a:lnTo>
                    <a:pt x="0" y="713965"/>
                  </a:lnTo>
                  <a:close/>
                </a:path>
              </a:pathLst>
            </a:custGeom>
            <a:solidFill>
              <a:srgbClr val="FFFFFF"/>
            </a:solidFill>
          </p:spPr>
          <p:txBody>
            <a:bodyPr/>
            <a:lstStyle/>
            <a:p>
              <a:endParaRPr lang="en-US"/>
            </a:p>
          </p:txBody>
        </p:sp>
        <p:sp>
          <p:nvSpPr>
            <p:cNvPr id="11" name="TextBox 8">
              <a:extLst>
                <a:ext uri="{FF2B5EF4-FFF2-40B4-BE49-F238E27FC236}">
                  <a16:creationId xmlns:a16="http://schemas.microsoft.com/office/drawing/2014/main" id="{2F1C3D6B-7CF9-2BD5-8B36-9878D3FBC36D}"/>
                </a:ext>
              </a:extLst>
            </p:cNvPr>
            <p:cNvSpPr txBox="1"/>
            <p:nvPr/>
          </p:nvSpPr>
          <p:spPr>
            <a:xfrm>
              <a:off x="0" y="-47625"/>
              <a:ext cx="1223699" cy="761589"/>
            </a:xfrm>
            <a:prstGeom prst="rect">
              <a:avLst/>
            </a:prstGeom>
          </p:spPr>
          <p:txBody>
            <a:bodyPr lIns="50800" tIns="50800" rIns="50800" bIns="50800" rtlCol="0" anchor="ctr"/>
            <a:lstStyle/>
            <a:p>
              <a:pPr algn="ctr">
                <a:lnSpc>
                  <a:spcPts val="2239"/>
                </a:lnSpc>
              </a:pPr>
              <a:endParaRPr/>
            </a:p>
          </p:txBody>
        </p:sp>
      </p:grpSp>
      <p:grpSp>
        <p:nvGrpSpPr>
          <p:cNvPr id="12" name="Group 9">
            <a:extLst>
              <a:ext uri="{FF2B5EF4-FFF2-40B4-BE49-F238E27FC236}">
                <a16:creationId xmlns:a16="http://schemas.microsoft.com/office/drawing/2014/main" id="{AE32C22C-3FDB-2396-2943-AFA12977BDA2}"/>
              </a:ext>
            </a:extLst>
          </p:cNvPr>
          <p:cNvGrpSpPr/>
          <p:nvPr/>
        </p:nvGrpSpPr>
        <p:grpSpPr>
          <a:xfrm>
            <a:off x="793587" y="1098363"/>
            <a:ext cx="4820890" cy="773873"/>
            <a:chOff x="-117556" y="-72266"/>
            <a:chExt cx="1991689" cy="319716"/>
          </a:xfrm>
        </p:grpSpPr>
        <p:sp>
          <p:nvSpPr>
            <p:cNvPr id="13" name="Freeform 10">
              <a:extLst>
                <a:ext uri="{FF2B5EF4-FFF2-40B4-BE49-F238E27FC236}">
                  <a16:creationId xmlns:a16="http://schemas.microsoft.com/office/drawing/2014/main" id="{DD5D5B45-D48F-CBC2-FAE6-3C32D4CA4A54}"/>
                </a:ext>
              </a:extLst>
            </p:cNvPr>
            <p:cNvSpPr/>
            <p:nvPr/>
          </p:nvSpPr>
          <p:spPr>
            <a:xfrm>
              <a:off x="-117556" y="-72266"/>
              <a:ext cx="1991689" cy="319716"/>
            </a:xfrm>
            <a:custGeom>
              <a:avLst/>
              <a:gdLst/>
              <a:ahLst/>
              <a:cxnLst/>
              <a:rect l="l" t="t" r="r" b="b"/>
              <a:pathLst>
                <a:path w="736235" h="178921">
                  <a:moveTo>
                    <a:pt x="0" y="0"/>
                  </a:moveTo>
                  <a:lnTo>
                    <a:pt x="736235" y="0"/>
                  </a:lnTo>
                  <a:lnTo>
                    <a:pt x="736235" y="178921"/>
                  </a:lnTo>
                  <a:lnTo>
                    <a:pt x="0" y="178921"/>
                  </a:lnTo>
                  <a:close/>
                </a:path>
              </a:pathLst>
            </a:custGeom>
            <a:solidFill>
              <a:srgbClr val="E8ECF8"/>
            </a:solidFill>
            <a:ln cap="sq">
              <a:noFill/>
              <a:prstDash val="solid"/>
              <a:miter/>
            </a:ln>
          </p:spPr>
          <p:txBody>
            <a:bodyPr/>
            <a:lstStyle/>
            <a:p>
              <a:endParaRPr lang="en-US"/>
            </a:p>
          </p:txBody>
        </p:sp>
        <p:sp>
          <p:nvSpPr>
            <p:cNvPr id="14" name="TextBox 11">
              <a:extLst>
                <a:ext uri="{FF2B5EF4-FFF2-40B4-BE49-F238E27FC236}">
                  <a16:creationId xmlns:a16="http://schemas.microsoft.com/office/drawing/2014/main" id="{D4602096-BB2A-D06A-F2F9-A1B85FB7B21D}"/>
                </a:ext>
              </a:extLst>
            </p:cNvPr>
            <p:cNvSpPr txBox="1"/>
            <p:nvPr/>
          </p:nvSpPr>
          <p:spPr>
            <a:xfrm>
              <a:off x="0" y="-66675"/>
              <a:ext cx="736235" cy="245596"/>
            </a:xfrm>
            <a:prstGeom prst="rect">
              <a:avLst/>
            </a:prstGeom>
          </p:spPr>
          <p:txBody>
            <a:bodyPr lIns="50800" tIns="50800" rIns="50800" bIns="50800" rtlCol="0" anchor="ctr"/>
            <a:lstStyle/>
            <a:p>
              <a:pPr marL="0" lvl="0" indent="0" algn="ctr">
                <a:lnSpc>
                  <a:spcPts val="3500"/>
                </a:lnSpc>
                <a:spcBef>
                  <a:spcPct val="0"/>
                </a:spcBef>
              </a:pPr>
              <a:endParaRPr/>
            </a:p>
          </p:txBody>
        </p:sp>
      </p:grpSp>
      <p:sp>
        <p:nvSpPr>
          <p:cNvPr id="16" name="Freeform 13">
            <a:extLst>
              <a:ext uri="{FF2B5EF4-FFF2-40B4-BE49-F238E27FC236}">
                <a16:creationId xmlns:a16="http://schemas.microsoft.com/office/drawing/2014/main" id="{E92715B5-E2D3-4776-93F0-B360B5A59553}"/>
              </a:ext>
            </a:extLst>
          </p:cNvPr>
          <p:cNvSpPr/>
          <p:nvPr/>
        </p:nvSpPr>
        <p:spPr>
          <a:xfrm>
            <a:off x="1783618" y="199"/>
            <a:ext cx="1032349" cy="451764"/>
          </a:xfrm>
          <a:custGeom>
            <a:avLst/>
            <a:gdLst/>
            <a:ahLst/>
            <a:cxnLst/>
            <a:rect l="l" t="t" r="r" b="b"/>
            <a:pathLst>
              <a:path w="2102123" h="919905">
                <a:moveTo>
                  <a:pt x="0" y="0"/>
                </a:moveTo>
                <a:lnTo>
                  <a:pt x="2102123" y="0"/>
                </a:lnTo>
                <a:lnTo>
                  <a:pt x="2102123" y="919905"/>
                </a:lnTo>
                <a:lnTo>
                  <a:pt x="0" y="919905"/>
                </a:lnTo>
                <a:lnTo>
                  <a:pt x="0" y="0"/>
                </a:lnTo>
                <a:close/>
              </a:path>
            </a:pathLst>
          </a:custGeom>
          <a:blipFill dpi="0" rotWithShape="1">
            <a:blip r:embed="rId4">
              <a:alphaModFix amt="32000"/>
              <a:extLst>
                <a:ext uri="{96DAC541-7B7A-43D3-8B79-37D633B846F1}">
                  <asvg:svgBlip xmlns:asvg="http://schemas.microsoft.com/office/drawing/2016/SVG/main" r:embed="rId5"/>
                </a:ext>
              </a:extLst>
            </a:blip>
            <a:srcRect/>
            <a:stretch>
              <a:fillRect t="-106728" r="-65303"/>
            </a:stretch>
          </a:blipFill>
        </p:spPr>
        <p:txBody>
          <a:bodyPr/>
          <a:lstStyle/>
          <a:p>
            <a:endParaRPr lang="en-US"/>
          </a:p>
        </p:txBody>
      </p:sp>
      <p:sp>
        <p:nvSpPr>
          <p:cNvPr id="17" name="Freeform 14">
            <a:extLst>
              <a:ext uri="{FF2B5EF4-FFF2-40B4-BE49-F238E27FC236}">
                <a16:creationId xmlns:a16="http://schemas.microsoft.com/office/drawing/2014/main" id="{E93B0532-3834-38EB-306B-BB126F538A06}"/>
              </a:ext>
            </a:extLst>
          </p:cNvPr>
          <p:cNvSpPr/>
          <p:nvPr/>
        </p:nvSpPr>
        <p:spPr>
          <a:xfrm>
            <a:off x="151647" y="93093"/>
            <a:ext cx="770970" cy="773872"/>
          </a:xfrm>
          <a:custGeom>
            <a:avLst/>
            <a:gdLst/>
            <a:ahLst/>
            <a:cxnLst/>
            <a:rect l="l" t="t" r="r" b="b"/>
            <a:pathLst>
              <a:path w="1569889" h="1575798">
                <a:moveTo>
                  <a:pt x="0" y="0"/>
                </a:moveTo>
                <a:lnTo>
                  <a:pt x="1569889" y="0"/>
                </a:lnTo>
                <a:lnTo>
                  <a:pt x="1569889" y="1575798"/>
                </a:lnTo>
                <a:lnTo>
                  <a:pt x="0" y="1575798"/>
                </a:lnTo>
                <a:lnTo>
                  <a:pt x="0" y="0"/>
                </a:lnTo>
                <a:close/>
              </a:path>
            </a:pathLst>
          </a:custGeom>
          <a:blipFill dpi="0" rotWithShape="1">
            <a:blip r:embed="rId6">
              <a:alphaModFix amt="30000"/>
              <a:extLst>
                <a:ext uri="{96DAC541-7B7A-43D3-8B79-37D633B846F1}">
                  <asvg:svgBlip xmlns:asvg="http://schemas.microsoft.com/office/drawing/2016/SVG/main" r:embed="rId7"/>
                </a:ext>
              </a:extLst>
            </a:blip>
            <a:srcRect/>
            <a:stretch>
              <a:fillRect/>
            </a:stretch>
          </a:blipFill>
        </p:spPr>
        <p:txBody>
          <a:bodyPr/>
          <a:lstStyle/>
          <a:p>
            <a:endParaRPr lang="en-US"/>
          </a:p>
        </p:txBody>
      </p:sp>
      <p:sp>
        <p:nvSpPr>
          <p:cNvPr id="35" name="TextBox 34">
            <a:extLst>
              <a:ext uri="{FF2B5EF4-FFF2-40B4-BE49-F238E27FC236}">
                <a16:creationId xmlns:a16="http://schemas.microsoft.com/office/drawing/2014/main" id="{B1520DAD-F8CC-E505-163A-1A40C1FCC226}"/>
              </a:ext>
            </a:extLst>
          </p:cNvPr>
          <p:cNvSpPr txBox="1"/>
          <p:nvPr/>
        </p:nvSpPr>
        <p:spPr>
          <a:xfrm>
            <a:off x="793587" y="2065201"/>
            <a:ext cx="4089105" cy="954107"/>
          </a:xfrm>
          <a:prstGeom prst="rect">
            <a:avLst/>
          </a:prstGeom>
          <a:noFill/>
        </p:spPr>
        <p:txBody>
          <a:bodyPr wrap="square" rtlCol="0">
            <a:spAutoFit/>
          </a:bodyPr>
          <a:lstStyle/>
          <a:p>
            <a:r>
              <a:rPr lang="en-US" sz="2800" b="1" dirty="0">
                <a:solidFill>
                  <a:schemeClr val="tx1"/>
                </a:solidFill>
              </a:rPr>
              <a:t>Sales Analysis Dashboard in Excel</a:t>
            </a:r>
            <a:endParaRPr lang="en-US" sz="2800" dirty="0">
              <a:solidFill>
                <a:schemeClr val="tx1"/>
              </a:solidFill>
            </a:endParaRPr>
          </a:p>
        </p:txBody>
      </p:sp>
      <p:pic>
        <p:nvPicPr>
          <p:cNvPr id="39" name="Picture 38" descr="A group of people looking at a computer&#10;&#10;Description automatically generated">
            <a:extLst>
              <a:ext uri="{FF2B5EF4-FFF2-40B4-BE49-F238E27FC236}">
                <a16:creationId xmlns:a16="http://schemas.microsoft.com/office/drawing/2014/main" id="{18A248EA-6D70-BC00-C66F-B374210692E6}"/>
              </a:ext>
            </a:extLst>
          </p:cNvPr>
          <p:cNvPicPr>
            <a:picLocks noChangeAspect="1"/>
          </p:cNvPicPr>
          <p:nvPr/>
        </p:nvPicPr>
        <p:blipFill rotWithShape="1">
          <a:blip r:embed="rId8"/>
          <a:srcRect t="62443" r="30604" b="14243"/>
          <a:stretch/>
        </p:blipFill>
        <p:spPr>
          <a:xfrm>
            <a:off x="-8839" y="3956265"/>
            <a:ext cx="3569383" cy="1199146"/>
          </a:xfrm>
          <a:prstGeom prst="rect">
            <a:avLst/>
          </a:prstGeom>
        </p:spPr>
      </p:pic>
      <p:sp>
        <p:nvSpPr>
          <p:cNvPr id="40" name="Google Shape;70;p13">
            <a:extLst>
              <a:ext uri="{FF2B5EF4-FFF2-40B4-BE49-F238E27FC236}">
                <a16:creationId xmlns:a16="http://schemas.microsoft.com/office/drawing/2014/main" id="{574F20A4-E865-2423-673E-2D8E75BC50D9}"/>
              </a:ext>
            </a:extLst>
          </p:cNvPr>
          <p:cNvSpPr txBox="1"/>
          <p:nvPr/>
        </p:nvSpPr>
        <p:spPr>
          <a:xfrm>
            <a:off x="3705805" y="3971818"/>
            <a:ext cx="1456920" cy="276959"/>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None/>
            </a:pPr>
            <a:r>
              <a:rPr lang="en-US" sz="1200" b="0" i="0" u="none" strike="noStrike" cap="none" dirty="0">
                <a:solidFill>
                  <a:schemeClr val="bg1"/>
                </a:solidFill>
                <a:latin typeface="Arial"/>
                <a:ea typeface="Arial"/>
                <a:cs typeface="Arial"/>
                <a:sym typeface="Arial"/>
              </a:rPr>
              <a:t>Team Members</a:t>
            </a:r>
          </a:p>
        </p:txBody>
      </p:sp>
      <p:sp>
        <p:nvSpPr>
          <p:cNvPr id="41" name="TextBox 40">
            <a:extLst>
              <a:ext uri="{FF2B5EF4-FFF2-40B4-BE49-F238E27FC236}">
                <a16:creationId xmlns:a16="http://schemas.microsoft.com/office/drawing/2014/main" id="{94658D58-B26B-B263-E4E7-719E9EA907D6}"/>
              </a:ext>
            </a:extLst>
          </p:cNvPr>
          <p:cNvSpPr txBox="1"/>
          <p:nvPr/>
        </p:nvSpPr>
        <p:spPr>
          <a:xfrm>
            <a:off x="3705805" y="4306456"/>
            <a:ext cx="2168784" cy="846386"/>
          </a:xfrm>
          <a:prstGeom prst="rect">
            <a:avLst/>
          </a:prstGeom>
          <a:noFill/>
        </p:spPr>
        <p:txBody>
          <a:bodyPr wrap="square" lIns="91440" tIns="45720" rIns="91440" bIns="45720" anchor="t">
            <a:spAutoFit/>
          </a:bodyPr>
          <a:lstStyle/>
          <a:p>
            <a:pPr marL="228600" indent="-228600">
              <a:spcAft>
                <a:spcPts val="200"/>
              </a:spcAft>
              <a:buClr>
                <a:schemeClr val="bg1"/>
              </a:buClr>
              <a:buAutoNum type="arabicPeriod"/>
            </a:pPr>
            <a:r>
              <a:rPr lang="fi-FI" sz="1100" dirty="0">
                <a:solidFill>
                  <a:schemeClr val="bg1"/>
                </a:solidFill>
              </a:rPr>
              <a:t>Archi Tripathi</a:t>
            </a:r>
            <a:endParaRPr lang="en-US" dirty="0">
              <a:solidFill>
                <a:schemeClr val="bg1"/>
              </a:solidFill>
            </a:endParaRPr>
          </a:p>
          <a:p>
            <a:pPr marL="228600" indent="-228600">
              <a:spcAft>
                <a:spcPts val="200"/>
              </a:spcAft>
              <a:buClr>
                <a:schemeClr val="bg1"/>
              </a:buClr>
              <a:buAutoNum type="arabicPeriod"/>
            </a:pPr>
            <a:r>
              <a:rPr lang="fi-FI" sz="1100" dirty="0">
                <a:solidFill>
                  <a:schemeClr val="bg1"/>
                </a:solidFill>
              </a:rPr>
              <a:t>Vandana Singh</a:t>
            </a:r>
          </a:p>
          <a:p>
            <a:pPr marL="228600" indent="-228600">
              <a:spcAft>
                <a:spcPts val="200"/>
              </a:spcAft>
              <a:buClr>
                <a:schemeClr val="bg1"/>
              </a:buClr>
              <a:buAutoNum type="arabicPeriod"/>
            </a:pPr>
            <a:r>
              <a:rPr lang="fi-FI" sz="1100" dirty="0">
                <a:solidFill>
                  <a:schemeClr val="bg1"/>
                </a:solidFill>
              </a:rPr>
              <a:t>Vishal Dixit</a:t>
            </a:r>
          </a:p>
          <a:p>
            <a:pPr marL="228600" indent="-228600">
              <a:spcAft>
                <a:spcPts val="200"/>
              </a:spcAft>
              <a:buClr>
                <a:schemeClr val="bg1"/>
              </a:buClr>
              <a:buAutoNum type="arabicPeriod"/>
            </a:pPr>
            <a:r>
              <a:rPr lang="fi-FI" sz="1100" dirty="0">
                <a:solidFill>
                  <a:schemeClr val="bg1"/>
                </a:solidFill>
              </a:rPr>
              <a:t>Gopal Ji</a:t>
            </a:r>
          </a:p>
        </p:txBody>
      </p:sp>
      <p:cxnSp>
        <p:nvCxnSpPr>
          <p:cNvPr id="42" name="Straight Connector 41">
            <a:extLst>
              <a:ext uri="{FF2B5EF4-FFF2-40B4-BE49-F238E27FC236}">
                <a16:creationId xmlns:a16="http://schemas.microsoft.com/office/drawing/2014/main" id="{DDA9C646-678B-4CA4-AAF5-5A0CA4DB2AC5}"/>
              </a:ext>
            </a:extLst>
          </p:cNvPr>
          <p:cNvCxnSpPr>
            <a:cxnSpLocks/>
          </p:cNvCxnSpPr>
          <p:nvPr/>
        </p:nvCxnSpPr>
        <p:spPr>
          <a:xfrm>
            <a:off x="3767827" y="4283706"/>
            <a:ext cx="2074828" cy="13408"/>
          </a:xfrm>
          <a:prstGeom prst="line">
            <a:avLst/>
          </a:prstGeom>
          <a:ln w="3175">
            <a:solidFill>
              <a:srgbClr val="E5EEFF"/>
            </a:solidFill>
            <a:prstDash val="lgDashDotDot"/>
          </a:ln>
        </p:spPr>
        <p:style>
          <a:lnRef idx="1">
            <a:schemeClr val="accent1"/>
          </a:lnRef>
          <a:fillRef idx="0">
            <a:schemeClr val="accent1"/>
          </a:fillRef>
          <a:effectRef idx="0">
            <a:schemeClr val="accent1"/>
          </a:effectRef>
          <a:fontRef idx="minor">
            <a:schemeClr val="tx1"/>
          </a:fontRef>
        </p:style>
      </p:cxnSp>
      <p:sp>
        <p:nvSpPr>
          <p:cNvPr id="44" name="Google Shape;70;p13">
            <a:extLst>
              <a:ext uri="{FF2B5EF4-FFF2-40B4-BE49-F238E27FC236}">
                <a16:creationId xmlns:a16="http://schemas.microsoft.com/office/drawing/2014/main" id="{43C0C02E-B24A-392F-8483-77C0267C88E1}"/>
              </a:ext>
            </a:extLst>
          </p:cNvPr>
          <p:cNvSpPr txBox="1"/>
          <p:nvPr/>
        </p:nvSpPr>
        <p:spPr>
          <a:xfrm>
            <a:off x="6609792" y="3971817"/>
            <a:ext cx="1456920" cy="276959"/>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None/>
            </a:pPr>
            <a:r>
              <a:rPr lang="en-US" sz="1200" b="0" i="0" u="none" strike="noStrike" cap="none">
                <a:solidFill>
                  <a:schemeClr val="bg1"/>
                </a:solidFill>
                <a:latin typeface="Arial"/>
                <a:ea typeface="Arial"/>
                <a:cs typeface="Arial"/>
                <a:sym typeface="Arial"/>
              </a:rPr>
              <a:t>Guided by</a:t>
            </a:r>
          </a:p>
        </p:txBody>
      </p:sp>
      <p:sp>
        <p:nvSpPr>
          <p:cNvPr id="45" name="TextBox 44">
            <a:extLst>
              <a:ext uri="{FF2B5EF4-FFF2-40B4-BE49-F238E27FC236}">
                <a16:creationId xmlns:a16="http://schemas.microsoft.com/office/drawing/2014/main" id="{5F6B4A00-040F-FDB6-2131-846EB7188C53}"/>
              </a:ext>
            </a:extLst>
          </p:cNvPr>
          <p:cNvSpPr txBox="1"/>
          <p:nvPr/>
        </p:nvSpPr>
        <p:spPr>
          <a:xfrm>
            <a:off x="6562814" y="4380193"/>
            <a:ext cx="2168784" cy="261610"/>
          </a:xfrm>
          <a:prstGeom prst="rect">
            <a:avLst/>
          </a:prstGeom>
          <a:noFill/>
        </p:spPr>
        <p:txBody>
          <a:bodyPr wrap="square" lIns="91440" tIns="45720" rIns="91440" bIns="45720" anchor="t">
            <a:spAutoFit/>
          </a:bodyPr>
          <a:lstStyle/>
          <a:p>
            <a:pPr marL="228600" indent="-228600">
              <a:spcAft>
                <a:spcPts val="200"/>
              </a:spcAft>
              <a:buClr>
                <a:schemeClr val="bg1"/>
              </a:buClr>
              <a:buAutoNum type="arabicPeriod"/>
            </a:pPr>
            <a:r>
              <a:rPr lang="en-US" sz="1100" dirty="0">
                <a:solidFill>
                  <a:schemeClr val="bg1"/>
                </a:solidFill>
              </a:rPr>
              <a:t>Mr. Saksham Mishra</a:t>
            </a:r>
            <a:endParaRPr lang="fi-FI" sz="1100" dirty="0">
              <a:solidFill>
                <a:schemeClr val="bg1"/>
              </a:solidFill>
            </a:endParaRPr>
          </a:p>
        </p:txBody>
      </p:sp>
      <p:cxnSp>
        <p:nvCxnSpPr>
          <p:cNvPr id="46" name="Straight Connector 45">
            <a:extLst>
              <a:ext uri="{FF2B5EF4-FFF2-40B4-BE49-F238E27FC236}">
                <a16:creationId xmlns:a16="http://schemas.microsoft.com/office/drawing/2014/main" id="{7C930180-14D0-979F-80DC-202E3B74AD60}"/>
              </a:ext>
            </a:extLst>
          </p:cNvPr>
          <p:cNvCxnSpPr>
            <a:cxnSpLocks/>
          </p:cNvCxnSpPr>
          <p:nvPr/>
        </p:nvCxnSpPr>
        <p:spPr>
          <a:xfrm>
            <a:off x="6609792" y="4280394"/>
            <a:ext cx="2074828" cy="13408"/>
          </a:xfrm>
          <a:prstGeom prst="line">
            <a:avLst/>
          </a:prstGeom>
          <a:ln w="3175">
            <a:solidFill>
              <a:srgbClr val="E5EEFF"/>
            </a:solidFill>
            <a:prstDash val="lgDashDotDot"/>
          </a:ln>
        </p:spPr>
        <p:style>
          <a:lnRef idx="1">
            <a:schemeClr val="accent1"/>
          </a:lnRef>
          <a:fillRef idx="0">
            <a:schemeClr val="accent1"/>
          </a:fillRef>
          <a:effectRef idx="0">
            <a:schemeClr val="accent1"/>
          </a:effectRef>
          <a:fontRef idx="minor">
            <a:schemeClr val="tx1"/>
          </a:fontRef>
        </p:style>
      </p:cxnSp>
      <p:grpSp>
        <p:nvGrpSpPr>
          <p:cNvPr id="53" name="Group 52">
            <a:extLst>
              <a:ext uri="{FF2B5EF4-FFF2-40B4-BE49-F238E27FC236}">
                <a16:creationId xmlns:a16="http://schemas.microsoft.com/office/drawing/2014/main" id="{242FDAC4-AE27-C374-87FA-1488045722F0}"/>
              </a:ext>
            </a:extLst>
          </p:cNvPr>
          <p:cNvGrpSpPr/>
          <p:nvPr/>
        </p:nvGrpSpPr>
        <p:grpSpPr>
          <a:xfrm>
            <a:off x="1402805" y="1159739"/>
            <a:ext cx="3608846" cy="660460"/>
            <a:chOff x="1516338" y="1159739"/>
            <a:chExt cx="3608846" cy="660460"/>
          </a:xfrm>
        </p:grpSpPr>
        <p:cxnSp>
          <p:nvCxnSpPr>
            <p:cNvPr id="48" name="Straight Connector 47">
              <a:extLst>
                <a:ext uri="{FF2B5EF4-FFF2-40B4-BE49-F238E27FC236}">
                  <a16:creationId xmlns:a16="http://schemas.microsoft.com/office/drawing/2014/main" id="{E7602FD7-B850-30FC-6F11-B26765319CF5}"/>
                </a:ext>
              </a:extLst>
            </p:cNvPr>
            <p:cNvCxnSpPr>
              <a:cxnSpLocks/>
            </p:cNvCxnSpPr>
            <p:nvPr/>
          </p:nvCxnSpPr>
          <p:spPr>
            <a:xfrm>
              <a:off x="3969406" y="1316016"/>
              <a:ext cx="0" cy="330321"/>
            </a:xfrm>
            <a:prstGeom prst="line">
              <a:avLst/>
            </a:prstGeom>
            <a:ln/>
          </p:spPr>
          <p:style>
            <a:lnRef idx="1">
              <a:schemeClr val="dk1"/>
            </a:lnRef>
            <a:fillRef idx="0">
              <a:schemeClr val="dk1"/>
            </a:fillRef>
            <a:effectRef idx="0">
              <a:schemeClr val="dk1"/>
            </a:effectRef>
            <a:fontRef idx="minor">
              <a:schemeClr val="tx1"/>
            </a:fontRef>
          </p:style>
        </p:cxnSp>
        <p:pic>
          <p:nvPicPr>
            <p:cNvPr id="49" name="Google Shape;110;p4" descr="A close up of a sign&#10;&#10;Description automatically generated">
              <a:extLst>
                <a:ext uri="{FF2B5EF4-FFF2-40B4-BE49-F238E27FC236}">
                  <a16:creationId xmlns:a16="http://schemas.microsoft.com/office/drawing/2014/main" id="{321F3B6E-D5C9-7BFA-7BDB-50FF890BB654}"/>
                </a:ext>
              </a:extLst>
            </p:cNvPr>
            <p:cNvPicPr preferRelativeResize="0"/>
            <p:nvPr/>
          </p:nvPicPr>
          <p:blipFill rotWithShape="1">
            <a:blip r:embed="rId9">
              <a:alphaModFix/>
            </a:blip>
            <a:srcRect/>
            <a:stretch/>
          </p:blipFill>
          <p:spPr>
            <a:xfrm>
              <a:off x="4237873" y="1341787"/>
              <a:ext cx="887311" cy="296622"/>
            </a:xfrm>
            <a:prstGeom prst="rect">
              <a:avLst/>
            </a:prstGeom>
            <a:noFill/>
            <a:ln>
              <a:noFill/>
            </a:ln>
          </p:spPr>
        </p:pic>
        <p:pic>
          <p:nvPicPr>
            <p:cNvPr id="50" name="Picture 49">
              <a:extLst>
                <a:ext uri="{FF2B5EF4-FFF2-40B4-BE49-F238E27FC236}">
                  <a16:creationId xmlns:a16="http://schemas.microsoft.com/office/drawing/2014/main" id="{E97570DF-6F54-74D9-731F-612CF788DA56}"/>
                </a:ext>
              </a:extLst>
            </p:cNvPr>
            <p:cNvPicPr/>
            <p:nvPr/>
          </p:nvPicPr>
          <p:blipFill>
            <a:blip r:embed="rId10"/>
            <a:stretch/>
          </p:blipFill>
          <p:spPr>
            <a:xfrm>
              <a:off x="1516338" y="1351451"/>
              <a:ext cx="1069048" cy="277034"/>
            </a:xfrm>
            <a:prstGeom prst="rect">
              <a:avLst/>
            </a:prstGeom>
            <a:ln w="0">
              <a:noFill/>
            </a:ln>
          </p:spPr>
        </p:pic>
        <p:cxnSp>
          <p:nvCxnSpPr>
            <p:cNvPr id="51" name="Straight Connector 50">
              <a:extLst>
                <a:ext uri="{FF2B5EF4-FFF2-40B4-BE49-F238E27FC236}">
                  <a16:creationId xmlns:a16="http://schemas.microsoft.com/office/drawing/2014/main" id="{C2C4709E-5DC8-3087-4DFF-5FD21D1AA1BA}"/>
                </a:ext>
              </a:extLst>
            </p:cNvPr>
            <p:cNvCxnSpPr>
              <a:cxnSpLocks/>
            </p:cNvCxnSpPr>
            <p:nvPr/>
          </p:nvCxnSpPr>
          <p:spPr>
            <a:xfrm>
              <a:off x="2615873" y="1316016"/>
              <a:ext cx="0" cy="330321"/>
            </a:xfrm>
            <a:prstGeom prst="line">
              <a:avLst/>
            </a:prstGeom>
            <a:ln/>
          </p:spPr>
          <p:style>
            <a:lnRef idx="1">
              <a:schemeClr val="dk1"/>
            </a:lnRef>
            <a:fillRef idx="0">
              <a:schemeClr val="dk1"/>
            </a:fillRef>
            <a:effectRef idx="0">
              <a:schemeClr val="dk1"/>
            </a:effectRef>
            <a:fontRef idx="minor">
              <a:schemeClr val="tx1"/>
            </a:fontRef>
          </p:style>
        </p:cxnSp>
        <p:pic>
          <p:nvPicPr>
            <p:cNvPr id="52" name="Picture 51" descr="A logo with tools in a circle&#10;&#10;Description automatically generated">
              <a:extLst>
                <a:ext uri="{FF2B5EF4-FFF2-40B4-BE49-F238E27FC236}">
                  <a16:creationId xmlns:a16="http://schemas.microsoft.com/office/drawing/2014/main" id="{D5514759-EB9F-E36E-1FFF-E3E7F1E44AE5}"/>
                </a:ext>
              </a:extLst>
            </p:cNvPr>
            <p:cNvPicPr>
              <a:picLocks noChangeAspect="1"/>
            </p:cNvPicPr>
            <p:nvPr/>
          </p:nvPicPr>
          <p:blipFill>
            <a:blip r:embed="rId11"/>
            <a:stretch>
              <a:fillRect/>
            </a:stretch>
          </p:blipFill>
          <p:spPr>
            <a:xfrm>
              <a:off x="2993928" y="1159739"/>
              <a:ext cx="658966" cy="660460"/>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2" name="TextBox 1">
            <a:extLst>
              <a:ext uri="{FF2B5EF4-FFF2-40B4-BE49-F238E27FC236}">
                <a16:creationId xmlns:a16="http://schemas.microsoft.com/office/drawing/2014/main" id="{687AFAD5-578C-DC2D-F127-90FF4287354D}"/>
              </a:ext>
            </a:extLst>
          </p:cNvPr>
          <p:cNvSpPr txBox="1"/>
          <p:nvPr/>
        </p:nvSpPr>
        <p:spPr>
          <a:xfrm>
            <a:off x="143933" y="683683"/>
            <a:ext cx="4428068" cy="338554"/>
          </a:xfrm>
          <a:prstGeom prst="rect">
            <a:avLst/>
          </a:prstGeom>
          <a:noFill/>
        </p:spPr>
        <p:txBody>
          <a:bodyPr wrap="square">
            <a:spAutoFit/>
          </a:bodyPr>
          <a:lstStyle/>
          <a:p>
            <a:r>
              <a:rPr lang="en-IN" sz="1600" b="1">
                <a:solidFill>
                  <a:srgbClr val="213163"/>
                </a:solidFill>
              </a:rPr>
              <a:t>Problem Statement</a:t>
            </a:r>
            <a:endParaRPr lang="en-IN" sz="1600">
              <a:solidFill>
                <a:srgbClr val="213163"/>
              </a:solidFill>
            </a:endParaRPr>
          </a:p>
        </p:txBody>
      </p:sp>
      <p:sp>
        <p:nvSpPr>
          <p:cNvPr id="6" name="TextBox 5">
            <a:extLst>
              <a:ext uri="{FF2B5EF4-FFF2-40B4-BE49-F238E27FC236}">
                <a16:creationId xmlns:a16="http://schemas.microsoft.com/office/drawing/2014/main" id="{4E2510F8-EE68-4DB7-5481-38EDBC28EBB2}"/>
              </a:ext>
            </a:extLst>
          </p:cNvPr>
          <p:cNvSpPr txBox="1"/>
          <p:nvPr/>
        </p:nvSpPr>
        <p:spPr>
          <a:xfrm>
            <a:off x="134414" y="1133132"/>
            <a:ext cx="4413733" cy="3754874"/>
          </a:xfrm>
          <a:prstGeom prst="rect">
            <a:avLst/>
          </a:prstGeom>
          <a:noFill/>
        </p:spPr>
        <p:txBody>
          <a:bodyPr wrap="square" lIns="91440" tIns="45720" rIns="91440" bIns="45720" anchor="t">
            <a:spAutoFit/>
          </a:bodyPr>
          <a:lstStyle/>
          <a:p>
            <a:pPr marL="285750" indent="-285750" algn="just">
              <a:buFont typeface="Arial" panose="020B0604020202020204" pitchFamily="34" charset="0"/>
              <a:buChar char="•"/>
            </a:pPr>
            <a:r>
              <a:rPr lang="en-US" dirty="0"/>
              <a:t>Social media platforms generate massive amounts of data every second in the form of likes, comments, shares, views, and user interactions. Analyzing this large volume of engagement data manually is difficult and time-consuming. Businesses and content creators often struggle to identify audience behavior, trending content, and platform performance without proper visualization and analytical tools.</a:t>
            </a:r>
          </a:p>
          <a:p>
            <a:pPr marL="285750" indent="-285750" algn="just">
              <a:buFont typeface="Arial" panose="020B0604020202020204" pitchFamily="34" charset="0"/>
              <a:buChar char="•"/>
            </a:pPr>
            <a:r>
              <a:rPr lang="en-US" dirty="0"/>
              <a:t>This project focuses on analyzing social media engagement data to discover meaningful insights related to user interaction, content performance, audience engagement trends, and platform effectiveness. The project helps in understanding which type of content performs better, which platforms generate higher engagement, and how user interaction changes over time</a:t>
            </a:r>
          </a:p>
        </p:txBody>
      </p:sp>
      <p:pic>
        <p:nvPicPr>
          <p:cNvPr id="7" name="Picture 6" descr="A cartoon of a person holding a book&#10;&#10;Description automatically generated">
            <a:extLst>
              <a:ext uri="{FF2B5EF4-FFF2-40B4-BE49-F238E27FC236}">
                <a16:creationId xmlns:a16="http://schemas.microsoft.com/office/drawing/2014/main" id="{27276879-51B0-342E-6B09-4EA7C9230A70}"/>
              </a:ext>
            </a:extLst>
          </p:cNvPr>
          <p:cNvPicPr>
            <a:picLocks noChangeAspect="1"/>
          </p:cNvPicPr>
          <p:nvPr/>
        </p:nvPicPr>
        <p:blipFill rotWithShape="1">
          <a:blip r:embed="rId3"/>
          <a:srcRect b="41075"/>
          <a:stretch/>
        </p:blipFill>
        <p:spPr>
          <a:xfrm>
            <a:off x="5112433" y="1147011"/>
            <a:ext cx="2351445" cy="3521243"/>
          </a:xfrm>
          <a:prstGeom prst="rect">
            <a:avLst/>
          </a:prstGeom>
        </p:spPr>
      </p:pic>
      <p:pic>
        <p:nvPicPr>
          <p:cNvPr id="8" name="Picture 7" descr="A blue question mark on a black background&#10;&#10;Description automatically generated">
            <a:extLst>
              <a:ext uri="{FF2B5EF4-FFF2-40B4-BE49-F238E27FC236}">
                <a16:creationId xmlns:a16="http://schemas.microsoft.com/office/drawing/2014/main" id="{AEF795B9-59D0-E5F1-B10D-DC58713F5459}"/>
              </a:ext>
            </a:extLst>
          </p:cNvPr>
          <p:cNvPicPr>
            <a:picLocks noChangeAspect="1"/>
          </p:cNvPicPr>
          <p:nvPr/>
        </p:nvPicPr>
        <p:blipFill>
          <a:blip r:embed="rId4"/>
          <a:stretch>
            <a:fillRect/>
          </a:stretch>
        </p:blipFill>
        <p:spPr>
          <a:xfrm>
            <a:off x="6575258" y="2627897"/>
            <a:ext cx="2260934" cy="2260934"/>
          </a:xfrm>
          <a:prstGeom prst="rect">
            <a:avLst/>
          </a:prstGeom>
        </p:spPr>
      </p:pic>
    </p:spTree>
    <p:extLst>
      <p:ext uri="{BB962C8B-B14F-4D97-AF65-F5344CB8AC3E}">
        <p14:creationId xmlns:p14="http://schemas.microsoft.com/office/powerpoint/2010/main" val="2746043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2" name="TextBox 1">
            <a:extLst>
              <a:ext uri="{FF2B5EF4-FFF2-40B4-BE49-F238E27FC236}">
                <a16:creationId xmlns:a16="http://schemas.microsoft.com/office/drawing/2014/main" id="{F4D5078D-F8F7-912B-4E9C-BED71500ACC2}"/>
              </a:ext>
            </a:extLst>
          </p:cNvPr>
          <p:cNvSpPr txBox="1"/>
          <p:nvPr/>
        </p:nvSpPr>
        <p:spPr>
          <a:xfrm>
            <a:off x="143933" y="683683"/>
            <a:ext cx="4428068" cy="338554"/>
          </a:xfrm>
          <a:prstGeom prst="rect">
            <a:avLst/>
          </a:prstGeom>
          <a:noFill/>
        </p:spPr>
        <p:txBody>
          <a:bodyPr wrap="square">
            <a:spAutoFit/>
          </a:bodyPr>
          <a:lstStyle/>
          <a:p>
            <a:r>
              <a:rPr lang="en-US" sz="1600" b="1">
                <a:solidFill>
                  <a:srgbClr val="002060"/>
                </a:solidFill>
                <a:latin typeface="Arial"/>
                <a:ea typeface="Arial"/>
                <a:cs typeface="Arial"/>
                <a:sym typeface="Arial"/>
              </a:rPr>
              <a:t>Solution</a:t>
            </a:r>
            <a:endParaRPr lang="en-IN" sz="1600">
              <a:solidFill>
                <a:srgbClr val="213163"/>
              </a:solidFill>
            </a:endParaRPr>
          </a:p>
        </p:txBody>
      </p:sp>
      <p:grpSp>
        <p:nvGrpSpPr>
          <p:cNvPr id="25" name="Group 24">
            <a:extLst>
              <a:ext uri="{FF2B5EF4-FFF2-40B4-BE49-F238E27FC236}">
                <a16:creationId xmlns:a16="http://schemas.microsoft.com/office/drawing/2014/main" id="{D00F2964-0D4F-F880-A09E-E7A62DA0D8AD}"/>
              </a:ext>
            </a:extLst>
          </p:cNvPr>
          <p:cNvGrpSpPr/>
          <p:nvPr/>
        </p:nvGrpSpPr>
        <p:grpSpPr>
          <a:xfrm>
            <a:off x="4957011" y="1136519"/>
            <a:ext cx="4296704" cy="3560273"/>
            <a:chOff x="4957011" y="1136519"/>
            <a:chExt cx="4296704" cy="3560273"/>
          </a:xfrm>
        </p:grpSpPr>
        <p:grpSp>
          <p:nvGrpSpPr>
            <p:cNvPr id="14" name="Group 13">
              <a:extLst>
                <a:ext uri="{FF2B5EF4-FFF2-40B4-BE49-F238E27FC236}">
                  <a16:creationId xmlns:a16="http://schemas.microsoft.com/office/drawing/2014/main" id="{4CBDDE1E-3117-B64C-BB4F-1DE4EAC4051A}"/>
                </a:ext>
              </a:extLst>
            </p:cNvPr>
            <p:cNvGrpSpPr/>
            <p:nvPr/>
          </p:nvGrpSpPr>
          <p:grpSpPr>
            <a:xfrm>
              <a:off x="5693442" y="1136519"/>
              <a:ext cx="3560273" cy="3560273"/>
              <a:chOff x="4955715" y="1142768"/>
              <a:chExt cx="3560273" cy="3560273"/>
            </a:xfrm>
          </p:grpSpPr>
          <p:pic>
            <p:nvPicPr>
              <p:cNvPr id="15" name="Graphic 2" descr="Building with solid fill">
                <a:extLst>
                  <a:ext uri="{FF2B5EF4-FFF2-40B4-BE49-F238E27FC236}">
                    <a16:creationId xmlns:a16="http://schemas.microsoft.com/office/drawing/2014/main" id="{EB410575-724F-E860-628D-9E31E8990CC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55715" y="1142768"/>
                <a:ext cx="3560273" cy="3560273"/>
              </a:xfrm>
              <a:prstGeom prst="rect">
                <a:avLst/>
              </a:prstGeom>
            </p:spPr>
          </p:pic>
          <p:pic>
            <p:nvPicPr>
              <p:cNvPr id="16" name="Picture 15" descr="A green leafy plant with black background&#10;&#10;Description automatically generated">
                <a:extLst>
                  <a:ext uri="{FF2B5EF4-FFF2-40B4-BE49-F238E27FC236}">
                    <a16:creationId xmlns:a16="http://schemas.microsoft.com/office/drawing/2014/main" id="{FA96A03D-8AC6-DF53-33DC-7FEC5CC4951F}"/>
                  </a:ext>
                </a:extLst>
              </p:cNvPr>
              <p:cNvPicPr>
                <a:picLocks noChangeAspect="1"/>
              </p:cNvPicPr>
              <p:nvPr/>
            </p:nvPicPr>
            <p:blipFill>
              <a:blip r:embed="rId5"/>
              <a:stretch>
                <a:fillRect/>
              </a:stretch>
            </p:blipFill>
            <p:spPr>
              <a:xfrm>
                <a:off x="7432037" y="4000732"/>
                <a:ext cx="463488" cy="463488"/>
              </a:xfrm>
              <a:prstGeom prst="rect">
                <a:avLst/>
              </a:prstGeom>
            </p:spPr>
          </p:pic>
          <p:pic>
            <p:nvPicPr>
              <p:cNvPr id="17" name="Picture 16" descr="A green leafy plant with black background&#10;&#10;Description automatically generated">
                <a:extLst>
                  <a:ext uri="{FF2B5EF4-FFF2-40B4-BE49-F238E27FC236}">
                    <a16:creationId xmlns:a16="http://schemas.microsoft.com/office/drawing/2014/main" id="{0C87976D-9ED4-94B4-E12D-0E81648990E7}"/>
                  </a:ext>
                </a:extLst>
              </p:cNvPr>
              <p:cNvPicPr>
                <a:picLocks noChangeAspect="1"/>
              </p:cNvPicPr>
              <p:nvPr/>
            </p:nvPicPr>
            <p:blipFill>
              <a:blip r:embed="rId5"/>
              <a:stretch>
                <a:fillRect/>
              </a:stretch>
            </p:blipFill>
            <p:spPr>
              <a:xfrm>
                <a:off x="5474975" y="3992712"/>
                <a:ext cx="463488" cy="463488"/>
              </a:xfrm>
              <a:prstGeom prst="rect">
                <a:avLst/>
              </a:prstGeom>
            </p:spPr>
          </p:pic>
          <p:pic>
            <p:nvPicPr>
              <p:cNvPr id="18" name="Picture 17" descr="A green leafy plant with black background&#10;&#10;Description automatically generated">
                <a:extLst>
                  <a:ext uri="{FF2B5EF4-FFF2-40B4-BE49-F238E27FC236}">
                    <a16:creationId xmlns:a16="http://schemas.microsoft.com/office/drawing/2014/main" id="{162C682B-F14F-E745-A95B-324697E9C870}"/>
                  </a:ext>
                </a:extLst>
              </p:cNvPr>
              <p:cNvPicPr>
                <a:picLocks noChangeAspect="1"/>
              </p:cNvPicPr>
              <p:nvPr/>
            </p:nvPicPr>
            <p:blipFill>
              <a:blip r:embed="rId5"/>
              <a:stretch>
                <a:fillRect/>
              </a:stretch>
            </p:blipFill>
            <p:spPr>
              <a:xfrm>
                <a:off x="5926171" y="3992712"/>
                <a:ext cx="463488" cy="463488"/>
              </a:xfrm>
              <a:prstGeom prst="rect">
                <a:avLst/>
              </a:prstGeom>
            </p:spPr>
          </p:pic>
          <p:pic>
            <p:nvPicPr>
              <p:cNvPr id="19" name="Picture 18" descr="A green leafy plant with black background&#10;&#10;Description automatically generated">
                <a:extLst>
                  <a:ext uri="{FF2B5EF4-FFF2-40B4-BE49-F238E27FC236}">
                    <a16:creationId xmlns:a16="http://schemas.microsoft.com/office/drawing/2014/main" id="{B8208A31-28D7-AFA6-DB42-EB7415CD5BD7}"/>
                  </a:ext>
                </a:extLst>
              </p:cNvPr>
              <p:cNvPicPr>
                <a:picLocks noChangeAspect="1"/>
              </p:cNvPicPr>
              <p:nvPr/>
            </p:nvPicPr>
            <p:blipFill>
              <a:blip r:embed="rId5"/>
              <a:stretch>
                <a:fillRect/>
              </a:stretch>
            </p:blipFill>
            <p:spPr>
              <a:xfrm>
                <a:off x="6389659" y="3992712"/>
                <a:ext cx="463488" cy="463488"/>
              </a:xfrm>
              <a:prstGeom prst="rect">
                <a:avLst/>
              </a:prstGeom>
            </p:spPr>
          </p:pic>
          <p:pic>
            <p:nvPicPr>
              <p:cNvPr id="20" name="Picture 19" descr="A green leafy plant with black background&#10;&#10;Description automatically generated">
                <a:extLst>
                  <a:ext uri="{FF2B5EF4-FFF2-40B4-BE49-F238E27FC236}">
                    <a16:creationId xmlns:a16="http://schemas.microsoft.com/office/drawing/2014/main" id="{921D4573-E89C-F978-B60F-75ABAB718726}"/>
                  </a:ext>
                </a:extLst>
              </p:cNvPr>
              <p:cNvPicPr>
                <a:picLocks noChangeAspect="1"/>
              </p:cNvPicPr>
              <p:nvPr/>
            </p:nvPicPr>
            <p:blipFill>
              <a:blip r:embed="rId5"/>
              <a:stretch>
                <a:fillRect/>
              </a:stretch>
            </p:blipFill>
            <p:spPr>
              <a:xfrm>
                <a:off x="6807588" y="3992712"/>
                <a:ext cx="463488" cy="463488"/>
              </a:xfrm>
              <a:prstGeom prst="rect">
                <a:avLst/>
              </a:prstGeom>
            </p:spPr>
          </p:pic>
          <p:pic>
            <p:nvPicPr>
              <p:cNvPr id="21" name="Picture 20" descr="A green leafy plant with black background&#10;&#10;Description automatically generated">
                <a:extLst>
                  <a:ext uri="{FF2B5EF4-FFF2-40B4-BE49-F238E27FC236}">
                    <a16:creationId xmlns:a16="http://schemas.microsoft.com/office/drawing/2014/main" id="{DD649A93-C91B-E486-EA5E-C080F29D6825}"/>
                  </a:ext>
                </a:extLst>
              </p:cNvPr>
              <p:cNvPicPr>
                <a:picLocks noChangeAspect="1"/>
              </p:cNvPicPr>
              <p:nvPr/>
            </p:nvPicPr>
            <p:blipFill>
              <a:blip r:embed="rId5"/>
              <a:stretch>
                <a:fillRect/>
              </a:stretch>
            </p:blipFill>
            <p:spPr>
              <a:xfrm>
                <a:off x="7119213" y="3992712"/>
                <a:ext cx="463488" cy="463488"/>
              </a:xfrm>
              <a:prstGeom prst="rect">
                <a:avLst/>
              </a:prstGeom>
            </p:spPr>
          </p:pic>
        </p:grpSp>
        <p:sp>
          <p:nvSpPr>
            <p:cNvPr id="22" name="Oval 21">
              <a:extLst>
                <a:ext uri="{FF2B5EF4-FFF2-40B4-BE49-F238E27FC236}">
                  <a16:creationId xmlns:a16="http://schemas.microsoft.com/office/drawing/2014/main" id="{560C6BA6-5F2D-8F9B-162A-E34B8A491099}"/>
                </a:ext>
              </a:extLst>
            </p:cNvPr>
            <p:cNvSpPr/>
            <p:nvPr/>
          </p:nvSpPr>
          <p:spPr>
            <a:xfrm>
              <a:off x="4957011" y="1389708"/>
              <a:ext cx="2274970" cy="2274970"/>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Google Shape;134;p23">
              <a:extLst>
                <a:ext uri="{FF2B5EF4-FFF2-40B4-BE49-F238E27FC236}">
                  <a16:creationId xmlns:a16="http://schemas.microsoft.com/office/drawing/2014/main" id="{3382BCA9-3D11-62CB-321B-240BFBF0E00A}"/>
                </a:ext>
              </a:extLst>
            </p:cNvPr>
            <p:cNvSpPr txBox="1"/>
            <p:nvPr/>
          </p:nvSpPr>
          <p:spPr>
            <a:xfrm>
              <a:off x="5156936" y="1429477"/>
              <a:ext cx="1875120" cy="2195432"/>
            </a:xfrm>
            <a:prstGeom prst="rect">
              <a:avLst/>
            </a:prstGeom>
            <a:noFill/>
            <a:ln>
              <a:noFill/>
            </a:ln>
          </p:spPr>
          <p:txBody>
            <a:bodyPr spcFirstLastPara="1" wrap="square" lIns="91425" tIns="45700" rIns="91425" bIns="45700" anchor="t" anchorCtr="0">
              <a:spAutoFit/>
            </a:bodyPr>
            <a:lstStyle/>
            <a:p>
              <a:pPr marR="0" lvl="0" rtl="0">
                <a:lnSpc>
                  <a:spcPct val="100000"/>
                </a:lnSpc>
                <a:spcBef>
                  <a:spcPts val="0"/>
                </a:spcBef>
                <a:spcAft>
                  <a:spcPts val="800"/>
                </a:spcAft>
              </a:pPr>
              <a:r>
                <a:rPr lang="en-US" sz="13000" b="1" i="0" u="none" strike="noStrike" cap="none">
                  <a:solidFill>
                    <a:schemeClr val="bg1"/>
                  </a:solidFill>
                  <a:latin typeface="Arial"/>
                  <a:ea typeface="Arial"/>
                  <a:cs typeface="Arial"/>
                  <a:sym typeface="Arial"/>
                </a:rPr>
                <a:t>AI</a:t>
              </a:r>
            </a:p>
          </p:txBody>
        </p:sp>
        <p:sp>
          <p:nvSpPr>
            <p:cNvPr id="24" name="Google Shape;134;p23">
              <a:extLst>
                <a:ext uri="{FF2B5EF4-FFF2-40B4-BE49-F238E27FC236}">
                  <a16:creationId xmlns:a16="http://schemas.microsoft.com/office/drawing/2014/main" id="{31ADB365-F098-90BE-1170-C0F8C08A2CF1}"/>
                </a:ext>
              </a:extLst>
            </p:cNvPr>
            <p:cNvSpPr txBox="1"/>
            <p:nvPr/>
          </p:nvSpPr>
          <p:spPr>
            <a:xfrm>
              <a:off x="6997972" y="1375380"/>
              <a:ext cx="974956" cy="410328"/>
            </a:xfrm>
            <a:prstGeom prst="rect">
              <a:avLst/>
            </a:prstGeom>
            <a:noFill/>
            <a:ln>
              <a:noFill/>
            </a:ln>
          </p:spPr>
          <p:txBody>
            <a:bodyPr spcFirstLastPara="1" wrap="square" lIns="91425" tIns="45700" rIns="91425" bIns="45700" anchor="t" anchorCtr="0">
              <a:spAutoFit/>
            </a:bodyPr>
            <a:lstStyle/>
            <a:p>
              <a:pPr marR="0" lvl="0" rtl="0">
                <a:lnSpc>
                  <a:spcPct val="100000"/>
                </a:lnSpc>
                <a:spcBef>
                  <a:spcPts val="0"/>
                </a:spcBef>
                <a:spcAft>
                  <a:spcPts val="800"/>
                </a:spcAft>
              </a:pPr>
              <a:r>
                <a:rPr lang="en-US" sz="1400" b="1" i="0" u="none" strike="noStrike" cap="none">
                  <a:solidFill>
                    <a:schemeClr val="bg1"/>
                  </a:solidFill>
                  <a:latin typeface="Arial"/>
                  <a:ea typeface="Arial"/>
                  <a:cs typeface="Arial"/>
                  <a:sym typeface="Arial"/>
                </a:rPr>
                <a:t>SCHOOL</a:t>
              </a:r>
            </a:p>
          </p:txBody>
        </p:sp>
      </p:grpSp>
      <p:sp>
        <p:nvSpPr>
          <p:cNvPr id="26" name="Google Shape;134;p23">
            <a:extLst>
              <a:ext uri="{FF2B5EF4-FFF2-40B4-BE49-F238E27FC236}">
                <a16:creationId xmlns:a16="http://schemas.microsoft.com/office/drawing/2014/main" id="{65A026A1-4157-D47A-7261-C367C2DC72CF}"/>
              </a:ext>
            </a:extLst>
          </p:cNvPr>
          <p:cNvSpPr txBox="1"/>
          <p:nvPr/>
        </p:nvSpPr>
        <p:spPr>
          <a:xfrm>
            <a:off x="131949" y="1142768"/>
            <a:ext cx="4440051" cy="3323946"/>
          </a:xfrm>
          <a:prstGeom prst="rect">
            <a:avLst/>
          </a:prstGeom>
          <a:noFill/>
          <a:ln>
            <a:noFill/>
          </a:ln>
        </p:spPr>
        <p:txBody>
          <a:bodyPr spcFirstLastPara="1" wrap="square" lIns="91425" tIns="45700" rIns="91425" bIns="45700" anchor="t" anchorCtr="0">
            <a:spAutoFit/>
          </a:bodyPr>
          <a:lstStyle/>
          <a:p>
            <a:pPr marL="285750" indent="-285750">
              <a:buFont typeface="Arial" panose="020B0604020202020204" pitchFamily="34" charset="0"/>
              <a:buChar char="•"/>
            </a:pPr>
            <a:r>
              <a:rPr lang="en-US" dirty="0"/>
              <a:t>To solve this problem, various data analysis and visualization tools such as Power BI, Excel, Pivot Tables, charts, and dashboards are used to transform raw social media data into meaningful visual insights.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project analyzes metrics such as likes, comments, shares, impressions, and engagement rates across different platforms and content categories. Interactive dashboards and reports help users easily understand engagement trends, compare platform performance, identify high-performing content, and make data-driven decisions to improve social media strategies and audience reach.</a:t>
            </a:r>
          </a:p>
        </p:txBody>
      </p:sp>
    </p:spTree>
    <p:extLst>
      <p:ext uri="{BB962C8B-B14F-4D97-AF65-F5344CB8AC3E}">
        <p14:creationId xmlns:p14="http://schemas.microsoft.com/office/powerpoint/2010/main" val="2975191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5" name="Google Shape;127;p22">
            <a:extLst>
              <a:ext uri="{FF2B5EF4-FFF2-40B4-BE49-F238E27FC236}">
                <a16:creationId xmlns:a16="http://schemas.microsoft.com/office/drawing/2014/main" id="{CC2ED9E3-05F2-5ECD-DD5B-3430C263D9B6}"/>
              </a:ext>
            </a:extLst>
          </p:cNvPr>
          <p:cNvSpPr txBox="1">
            <a:spLocks/>
          </p:cNvSpPr>
          <p:nvPr/>
        </p:nvSpPr>
        <p:spPr>
          <a:xfrm>
            <a:off x="139767" y="687300"/>
            <a:ext cx="8520600" cy="338514"/>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1600" b="1">
                <a:solidFill>
                  <a:srgbClr val="002060"/>
                </a:solidFill>
              </a:rPr>
              <a:t>Project Demo</a:t>
            </a:r>
          </a:p>
        </p:txBody>
      </p:sp>
      <p:grpSp>
        <p:nvGrpSpPr>
          <p:cNvPr id="13" name="Group 12">
            <a:extLst>
              <a:ext uri="{FF2B5EF4-FFF2-40B4-BE49-F238E27FC236}">
                <a16:creationId xmlns:a16="http://schemas.microsoft.com/office/drawing/2014/main" id="{B5EF4296-6D6A-2195-AEDC-5739E9527820}"/>
              </a:ext>
            </a:extLst>
          </p:cNvPr>
          <p:cNvGrpSpPr/>
          <p:nvPr/>
        </p:nvGrpSpPr>
        <p:grpSpPr>
          <a:xfrm>
            <a:off x="1605960" y="1352550"/>
            <a:ext cx="5422232" cy="3199772"/>
            <a:chOff x="1159110" y="1292018"/>
            <a:chExt cx="5422232" cy="3199772"/>
          </a:xfrm>
        </p:grpSpPr>
        <p:sp>
          <p:nvSpPr>
            <p:cNvPr id="6" name="Oval 5">
              <a:extLst>
                <a:ext uri="{FF2B5EF4-FFF2-40B4-BE49-F238E27FC236}">
                  <a16:creationId xmlns:a16="http://schemas.microsoft.com/office/drawing/2014/main" id="{AA8EF506-DE96-236C-46F0-224868672ADF}"/>
                </a:ext>
              </a:extLst>
            </p:cNvPr>
            <p:cNvSpPr/>
            <p:nvPr/>
          </p:nvSpPr>
          <p:spPr>
            <a:xfrm>
              <a:off x="3217787" y="1292018"/>
              <a:ext cx="2826661" cy="2826661"/>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hlinkClick r:id="rId3"/>
              <a:extLst>
                <a:ext uri="{FF2B5EF4-FFF2-40B4-BE49-F238E27FC236}">
                  <a16:creationId xmlns:a16="http://schemas.microsoft.com/office/drawing/2014/main" id="{DED40980-3081-6659-4392-177BDDF9F096}"/>
                </a:ext>
              </a:extLst>
            </p:cNvPr>
            <p:cNvSpPr/>
            <p:nvPr/>
          </p:nvSpPr>
          <p:spPr>
            <a:xfrm>
              <a:off x="1159110" y="2630906"/>
              <a:ext cx="5422232" cy="1860884"/>
            </a:xfrm>
            <a:prstGeom prst="roundRect">
              <a:avLst>
                <a:gd name="adj" fmla="val 14943"/>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A00A5BB1-3E0C-AD1B-4F66-76DA03418642}"/>
                </a:ext>
              </a:extLst>
            </p:cNvPr>
            <p:cNvSpPr txBox="1"/>
            <p:nvPr/>
          </p:nvSpPr>
          <p:spPr>
            <a:xfrm>
              <a:off x="1691508" y="3007350"/>
              <a:ext cx="4357437" cy="553998"/>
            </a:xfrm>
            <a:prstGeom prst="rect">
              <a:avLst/>
            </a:prstGeom>
            <a:noFill/>
          </p:spPr>
          <p:txBody>
            <a:bodyPr wrap="square">
              <a:spAutoFit/>
            </a:bodyPr>
            <a:lstStyle/>
            <a:p>
              <a:pPr algn="ctr"/>
              <a:r>
                <a:rPr lang="en-US" sz="3000" b="1" i="0" u="none" strike="noStrike" cap="none">
                  <a:solidFill>
                    <a:schemeClr val="bg1"/>
                  </a:solidFill>
                  <a:latin typeface="Arial"/>
                  <a:ea typeface="Arial"/>
                  <a:cs typeface="Arial"/>
                  <a:sym typeface="Arial"/>
                </a:rPr>
                <a:t>Website link </a:t>
              </a:r>
              <a:endParaRPr lang="en-US" sz="3000" b="1">
                <a:solidFill>
                  <a:schemeClr val="bg1"/>
                </a:solidFill>
              </a:endParaRPr>
            </a:p>
          </p:txBody>
        </p:sp>
        <p:sp>
          <p:nvSpPr>
            <p:cNvPr id="12" name="Rectangle 2">
              <a:extLst>
                <a:ext uri="{FF2B5EF4-FFF2-40B4-BE49-F238E27FC236}">
                  <a16:creationId xmlns:a16="http://schemas.microsoft.com/office/drawing/2014/main" id="{18516467-7CBC-2FFE-993C-F7C080FA7F0C}"/>
                </a:ext>
              </a:extLst>
            </p:cNvPr>
            <p:cNvSpPr>
              <a:spLocks noChangeArrowheads="1"/>
            </p:cNvSpPr>
            <p:nvPr/>
          </p:nvSpPr>
          <p:spPr bwMode="auto">
            <a:xfrm>
              <a:off x="1696004" y="3701418"/>
              <a:ext cx="43484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ClrTx/>
              </a:pPr>
              <a:r>
                <a:rPr lang="en-IN" sz="1800" b="1" dirty="0">
                  <a:solidFill>
                    <a:srgbClr val="FFFFFF"/>
                  </a:solidFill>
                  <a:effectLst/>
                  <a:latin typeface="Arial" panose="020B0604020202020204" pitchFamily="34" charset="0"/>
                  <a:hlinkClick r:id="rId4"/>
                </a:rPr>
                <a:t>Social Media Engagement</a:t>
              </a:r>
              <a:endParaRPr lang="en-US" altLang="en-US" sz="1600" b="0" i="0" u="none" strike="noStrike" cap="none" normalizeH="0" baseline="0" dirty="0">
                <a:ln>
                  <a:noFill/>
                </a:ln>
                <a:solidFill>
                  <a:schemeClr val="bg1"/>
                </a:solidFill>
                <a:effectLst/>
                <a:latin typeface="Arial" panose="020B0604020202020204" pitchFamily="34" charset="0"/>
              </a:endParaRPr>
            </a:p>
          </p:txBody>
        </p:sp>
      </p:grpSp>
      <p:grpSp>
        <p:nvGrpSpPr>
          <p:cNvPr id="19" name="Group 18">
            <a:extLst>
              <a:ext uri="{FF2B5EF4-FFF2-40B4-BE49-F238E27FC236}">
                <a16:creationId xmlns:a16="http://schemas.microsoft.com/office/drawing/2014/main" id="{65058CC0-CC04-8036-24AE-51461F3C17DF}"/>
              </a:ext>
            </a:extLst>
          </p:cNvPr>
          <p:cNvGrpSpPr/>
          <p:nvPr/>
        </p:nvGrpSpPr>
        <p:grpSpPr>
          <a:xfrm>
            <a:off x="4393138" y="1229664"/>
            <a:ext cx="1757585" cy="1815552"/>
            <a:chOff x="686159" y="633457"/>
            <a:chExt cx="2849880" cy="2943873"/>
          </a:xfrm>
        </p:grpSpPr>
        <p:sp>
          <p:nvSpPr>
            <p:cNvPr id="18" name="Rectangle 17">
              <a:extLst>
                <a:ext uri="{FF2B5EF4-FFF2-40B4-BE49-F238E27FC236}">
                  <a16:creationId xmlns:a16="http://schemas.microsoft.com/office/drawing/2014/main" id="{1401590A-7F69-1C2D-2A3C-3BD68F2C27B2}"/>
                </a:ext>
              </a:extLst>
            </p:cNvPr>
            <p:cNvSpPr/>
            <p:nvPr/>
          </p:nvSpPr>
          <p:spPr>
            <a:xfrm>
              <a:off x="790438" y="1492457"/>
              <a:ext cx="2613660" cy="14935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descr="A person on a computer screen&#10;&#10;Description automatically generated">
              <a:extLst>
                <a:ext uri="{FF2B5EF4-FFF2-40B4-BE49-F238E27FC236}">
                  <a16:creationId xmlns:a16="http://schemas.microsoft.com/office/drawing/2014/main" id="{AEFB9C29-B9A9-F09E-AF9C-106FEC826A3A}"/>
                </a:ext>
              </a:extLst>
            </p:cNvPr>
            <p:cNvPicPr>
              <a:picLocks noChangeAspect="1"/>
            </p:cNvPicPr>
            <p:nvPr/>
          </p:nvPicPr>
          <p:blipFill rotWithShape="1">
            <a:blip r:embed="rId5"/>
            <a:srcRect l="17439" r="18038"/>
            <a:stretch/>
          </p:blipFill>
          <p:spPr>
            <a:xfrm>
              <a:off x="686159" y="633457"/>
              <a:ext cx="2849880" cy="2943873"/>
            </a:xfrm>
            <a:prstGeom prst="rect">
              <a:avLst/>
            </a:prstGeom>
          </p:spPr>
        </p:pic>
      </p:grpSp>
    </p:spTree>
    <p:extLst>
      <p:ext uri="{BB962C8B-B14F-4D97-AF65-F5344CB8AC3E}">
        <p14:creationId xmlns:p14="http://schemas.microsoft.com/office/powerpoint/2010/main" val="4017130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pic>
        <p:nvPicPr>
          <p:cNvPr id="14" name="Picture 13" descr="A group of people standing on a arrow&#10;&#10;Description automatically generated">
            <a:extLst>
              <a:ext uri="{FF2B5EF4-FFF2-40B4-BE49-F238E27FC236}">
                <a16:creationId xmlns:a16="http://schemas.microsoft.com/office/drawing/2014/main" id="{3AF0A26D-CA08-4444-AD3E-FF6B88FF92E5}"/>
              </a:ext>
            </a:extLst>
          </p:cNvPr>
          <p:cNvPicPr>
            <a:picLocks noChangeAspect="1"/>
          </p:cNvPicPr>
          <p:nvPr/>
        </p:nvPicPr>
        <p:blipFill>
          <a:blip r:embed="rId3"/>
          <a:stretch>
            <a:fillRect/>
          </a:stretch>
        </p:blipFill>
        <p:spPr>
          <a:xfrm flipH="1">
            <a:off x="4488180" y="1021274"/>
            <a:ext cx="4655820" cy="3100952"/>
          </a:xfrm>
          <a:prstGeom prst="rect">
            <a:avLst/>
          </a:prstGeom>
        </p:spPr>
      </p:pic>
      <p:sp>
        <p:nvSpPr>
          <p:cNvPr id="4" name="Google Shape;127;p22">
            <a:extLst>
              <a:ext uri="{FF2B5EF4-FFF2-40B4-BE49-F238E27FC236}">
                <a16:creationId xmlns:a16="http://schemas.microsoft.com/office/drawing/2014/main" id="{8896CF32-2381-134F-850C-1B4E39261E20}"/>
              </a:ext>
            </a:extLst>
          </p:cNvPr>
          <p:cNvSpPr txBox="1">
            <a:spLocks/>
          </p:cNvSpPr>
          <p:nvPr/>
        </p:nvSpPr>
        <p:spPr>
          <a:xfrm>
            <a:off x="139767" y="687300"/>
            <a:ext cx="8520600" cy="338514"/>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1600" b="1">
                <a:solidFill>
                  <a:srgbClr val="002060"/>
                </a:solidFill>
              </a:rPr>
              <a:t>Future Scope</a:t>
            </a:r>
          </a:p>
        </p:txBody>
      </p:sp>
      <p:sp>
        <p:nvSpPr>
          <p:cNvPr id="8" name="Google Shape;134;p23">
            <a:extLst>
              <a:ext uri="{FF2B5EF4-FFF2-40B4-BE49-F238E27FC236}">
                <a16:creationId xmlns:a16="http://schemas.microsoft.com/office/drawing/2014/main" id="{57335198-79A6-CAA5-2CC6-0BB009B8F43A}"/>
              </a:ext>
            </a:extLst>
          </p:cNvPr>
          <p:cNvSpPr txBox="1"/>
          <p:nvPr/>
        </p:nvSpPr>
        <p:spPr>
          <a:xfrm>
            <a:off x="131949" y="1021274"/>
            <a:ext cx="4440051" cy="3970277"/>
          </a:xfrm>
          <a:prstGeom prst="rect">
            <a:avLst/>
          </a:prstGeom>
          <a:noFill/>
          <a:ln>
            <a:noFill/>
          </a:ln>
        </p:spPr>
        <p:txBody>
          <a:bodyPr spcFirstLastPara="1" wrap="square" lIns="91425" tIns="45700" rIns="91425" bIns="45700" anchor="t" anchorCtr="0">
            <a:spAutoFit/>
          </a:bodyPr>
          <a:lstStyle/>
          <a:p>
            <a:pPr marL="285750" indent="-285750">
              <a:buFont typeface="Arial" panose="020B0604020202020204" pitchFamily="34" charset="0"/>
              <a:buChar char="•"/>
            </a:pPr>
            <a:r>
              <a:rPr lang="en-US" b="1" dirty="0"/>
              <a:t>AI-Based Engagement Prediction</a:t>
            </a:r>
          </a:p>
          <a:p>
            <a:pPr algn="just"/>
            <a:r>
              <a:rPr lang="en-US" dirty="0"/>
              <a:t>In the future, Artificial Intelligence and Machine Learning models can be integrated to predict audience engagement, viral content trends, and user behavior patterns. This can help organizations plan better content strategies and improve marketing performance.</a:t>
            </a:r>
          </a:p>
          <a:p>
            <a:pPr marL="285750" indent="-285750">
              <a:buFont typeface="Arial" panose="020B0604020202020204" pitchFamily="34" charset="0"/>
              <a:buChar char="•"/>
            </a:pPr>
            <a:r>
              <a:rPr lang="en-US" b="1" dirty="0"/>
              <a:t>Real-Time Social Media Analytics</a:t>
            </a:r>
          </a:p>
          <a:p>
            <a:pPr algn="just"/>
            <a:r>
              <a:rPr lang="en-US" dirty="0"/>
              <a:t>The project can be extended into a real-time analytics system using APIs from platforms like Instagram, Facebook, LinkedIn, and Twitter/X. This would allow live monitoring of engagement metrics and instant performance tracking.</a:t>
            </a:r>
          </a:p>
          <a:p>
            <a:pPr marL="285750" indent="-285750">
              <a:buFont typeface="Arial" panose="020B0604020202020204" pitchFamily="34" charset="0"/>
              <a:buChar char="•"/>
            </a:pPr>
            <a:r>
              <a:rPr lang="en-US" b="1" dirty="0"/>
              <a:t>Sentiment Analysis Integration</a:t>
            </a:r>
          </a:p>
          <a:p>
            <a:pPr algn="just"/>
            <a:r>
              <a:rPr lang="en-US" dirty="0"/>
              <a:t>Future development can include sentiment analysis to understand whether audience reactions are positive, negative, or neutral based on comments and feedback.</a:t>
            </a:r>
          </a:p>
        </p:txBody>
      </p:sp>
    </p:spTree>
    <p:extLst>
      <p:ext uri="{BB962C8B-B14F-4D97-AF65-F5344CB8AC3E}">
        <p14:creationId xmlns:p14="http://schemas.microsoft.com/office/powerpoint/2010/main" val="2621200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7" name="Google Shape;127;p22">
            <a:extLst>
              <a:ext uri="{FF2B5EF4-FFF2-40B4-BE49-F238E27FC236}">
                <a16:creationId xmlns:a16="http://schemas.microsoft.com/office/drawing/2014/main" id="{2CBB2190-2983-5B07-C14F-C0C1B82BC484}"/>
              </a:ext>
            </a:extLst>
          </p:cNvPr>
          <p:cNvSpPr txBox="1">
            <a:spLocks/>
          </p:cNvSpPr>
          <p:nvPr/>
        </p:nvSpPr>
        <p:spPr>
          <a:xfrm>
            <a:off x="139767" y="687300"/>
            <a:ext cx="8520600" cy="338514"/>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1600" b="1">
                <a:solidFill>
                  <a:srgbClr val="002060"/>
                </a:solidFill>
              </a:rPr>
              <a:t>Conclusion</a:t>
            </a:r>
          </a:p>
        </p:txBody>
      </p:sp>
      <p:sp>
        <p:nvSpPr>
          <p:cNvPr id="8" name="Google Shape;134;p23">
            <a:extLst>
              <a:ext uri="{FF2B5EF4-FFF2-40B4-BE49-F238E27FC236}">
                <a16:creationId xmlns:a16="http://schemas.microsoft.com/office/drawing/2014/main" id="{F656EEBA-FCC6-FE6F-EAF7-837658983D56}"/>
              </a:ext>
            </a:extLst>
          </p:cNvPr>
          <p:cNvSpPr txBox="1"/>
          <p:nvPr/>
        </p:nvSpPr>
        <p:spPr>
          <a:xfrm>
            <a:off x="131949" y="1142768"/>
            <a:ext cx="4440051" cy="3539390"/>
          </a:xfrm>
          <a:prstGeom prst="rect">
            <a:avLst/>
          </a:prstGeom>
          <a:noFill/>
          <a:ln>
            <a:noFill/>
          </a:ln>
        </p:spPr>
        <p:txBody>
          <a:bodyPr spcFirstLastPara="1" wrap="square" lIns="91425" tIns="45700" rIns="91425" bIns="45700" anchor="t" anchorCtr="0">
            <a:spAutoFit/>
          </a:bodyPr>
          <a:lstStyle/>
          <a:p>
            <a:pPr marL="285750" indent="-285750">
              <a:buFont typeface="Arial" panose="020B0604020202020204" pitchFamily="34" charset="0"/>
              <a:buChar char="•"/>
            </a:pPr>
            <a:r>
              <a:rPr lang="en-US" dirty="0"/>
              <a:t>The Social Media Engagement Analysis project helps in understanding audience behavior and content performance through effective data visualization techniques.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analysis identifies high-performing posts, platform engagement trends, and audience interaction patterns. Dashboards created using Power BI and Excel simplify complex social media data and support better decision-making for content optimization and marketing strategies.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This project demonstrates how data analytics can improve social media management and help organizations make more informed business decisions.</a:t>
            </a:r>
          </a:p>
        </p:txBody>
      </p:sp>
      <p:pic>
        <p:nvPicPr>
          <p:cNvPr id="9" name="Picture 8" descr="A person standing next to a clipboard with a checklist&#10;&#10;Description automatically generated">
            <a:extLst>
              <a:ext uri="{FF2B5EF4-FFF2-40B4-BE49-F238E27FC236}">
                <a16:creationId xmlns:a16="http://schemas.microsoft.com/office/drawing/2014/main" id="{E9417E3B-DDB5-FAE5-89DC-EBB8DF91425C}"/>
              </a:ext>
            </a:extLst>
          </p:cNvPr>
          <p:cNvPicPr>
            <a:picLocks noChangeAspect="1"/>
          </p:cNvPicPr>
          <p:nvPr/>
        </p:nvPicPr>
        <p:blipFill rotWithShape="1">
          <a:blip r:embed="rId3"/>
          <a:srcRect l="17552" r="12574"/>
          <a:stretch/>
        </p:blipFill>
        <p:spPr>
          <a:xfrm>
            <a:off x="5205663" y="1100827"/>
            <a:ext cx="3930314" cy="3749862"/>
          </a:xfrm>
          <a:prstGeom prst="rect">
            <a:avLst/>
          </a:prstGeom>
        </p:spPr>
      </p:pic>
    </p:spTree>
    <p:extLst>
      <p:ext uri="{BB962C8B-B14F-4D97-AF65-F5344CB8AC3E}">
        <p14:creationId xmlns:p14="http://schemas.microsoft.com/office/powerpoint/2010/main" val="31047661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close-up of a thank you card&#10;&#10;Description automatically generated">
            <a:extLst>
              <a:ext uri="{FF2B5EF4-FFF2-40B4-BE49-F238E27FC236}">
                <a16:creationId xmlns:a16="http://schemas.microsoft.com/office/drawing/2014/main" id="{A93903B1-E7A1-B168-DEC2-0635A4163F59}"/>
              </a:ext>
            </a:extLst>
          </p:cNvPr>
          <p:cNvPicPr>
            <a:picLocks noChangeAspect="1"/>
          </p:cNvPicPr>
          <p:nvPr/>
        </p:nvPicPr>
        <p:blipFill rotWithShape="1">
          <a:blip r:embed="rId3"/>
          <a:srcRect l="9710" t="21904" r="9339"/>
          <a:stretch/>
        </p:blipFill>
        <p:spPr>
          <a:xfrm>
            <a:off x="1869484" y="1466831"/>
            <a:ext cx="5647194" cy="3064485"/>
          </a:xfrm>
          <a:prstGeom prst="rect">
            <a:avLst/>
          </a:prstGeom>
        </p:spPr>
      </p:pic>
    </p:spTree>
    <p:extLst>
      <p:ext uri="{BB962C8B-B14F-4D97-AF65-F5344CB8AC3E}">
        <p14:creationId xmlns:p14="http://schemas.microsoft.com/office/powerpoint/2010/main" val="3544365122"/>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9162bd5b-4ed9-4da3-b376-05204580ba3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5" ma:contentTypeDescription="Create a new document." ma:contentTypeScope="" ma:versionID="7670618c03e54fbae4a17ecb2d0ed10f">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3d63de1c5a217044e31e0c8b260d3d71"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706AB80-2608-47D7-8AC8-FA6BC8A9B27C}">
  <ds:schemaRefs>
    <ds:schemaRef ds:uri="http://schemas.microsoft.com/sharepoint/v3/contenttype/forms"/>
  </ds:schemaRefs>
</ds:datastoreItem>
</file>

<file path=customXml/itemProps2.xml><?xml version="1.0" encoding="utf-8"?>
<ds:datastoreItem xmlns:ds="http://schemas.openxmlformats.org/officeDocument/2006/customXml" ds:itemID="{A6559A34-456E-49A1-8157-9E3D18BFAD36}">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7D9E5D5E-A365-4A49-8140-C8CC82A61608}">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46</TotalTime>
  <Words>442</Words>
  <Application>Microsoft Office PowerPoint</Application>
  <PresentationFormat>On-screen Show (16:9)</PresentationFormat>
  <Paragraphs>35</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Times New Roman</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Moinudeen Syed</dc:creator>
  <cp:lastModifiedBy>Hp2</cp:lastModifiedBy>
  <cp:revision>7</cp:revision>
  <dcterms:modified xsi:type="dcterms:W3CDTF">2026-05-14T10:42:58Z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